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4800" b="1">
                <a:solidFill>
                  <a:srgbClr val="FFFFFF"/>
                </a:solidFill>
              </a:defRPr>
            </a:pPr>
            <a:r>
              <a:t>النساء vs أنثى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400">
                <a:solidFill>
                  <a:srgbClr val="97BC62"/>
                </a:solidFill>
              </a:defRPr>
            </a:pPr>
            <a:r>
              <a:t>دراسة مقارنة في الاستخدام القرآني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600" b="1">
                <a:solidFill>
                  <a:srgbClr val="2C5F2D"/>
                </a:solidFill>
              </a:defRPr>
            </a:pPr>
            <a:r>
              <a:t>⚠️ تنبيه مهم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هذا التقرير تم إنشاؤه بواسطة عامل بحث قرآني ذكي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الاستناد إلى النص الكامل للقرآن الكريم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النتائج يُفترض أن تكون شاملة لكن لا يمكن ضمانها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لا ينبغي مشاركتها كمصدر موثوق دون تحقق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600" b="1">
                <a:solidFill>
                  <a:srgbClr val="2C5F2D"/>
                </a:solidFill>
              </a:defRPr>
            </a:pPr>
            <a:r>
              <a:t>📊 نظرة عامة على البحث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النساء: ~51 موضعاً في القرآن الكريم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أنثى: ~22 موضعاً في القرآن الكريم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إجمالي الآيات المدروسة: 73+ آية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المنهج: تحليل قرآني بحت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400" b="1">
                <a:solidFill>
                  <a:srgbClr val="FFFFFF"/>
                </a:solidFill>
              </a:defRPr>
            </a:pPr>
            <a:r>
              <a:t>🔑 الاكتشاف الرئيسي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200">
                <a:solidFill>
                  <a:srgbClr val="97BC62"/>
                </a:solidFill>
              </a:defRPr>
            </a:pPr>
            <a:r>
              <a:t>القرآن يميز بدقة بين الفئة الاجتماعية والفئة البيولوجية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9966960" cy="2011680"/>
          </a:xfrm>
          <a:prstGeom prst="roundRect">
            <a:avLst/>
          </a:prstGeom>
          <a:solidFill>
            <a:srgbClr val="E8F5E9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600" b="1">
                <a:solidFill>
                  <a:srgbClr val="2C5F2D"/>
                </a:solidFill>
              </a:defRPr>
            </a:pPr>
            <a:r>
              <a:t>﴿الرِّجَالُ قَوَّامُونَ عَلَى النِّسَاءِ﴾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600">
                <a:solidFill>
                  <a:srgbClr val="666666"/>
                </a:solidFill>
              </a:defRPr>
            </a:pPr>
            <a:r>
              <a:t>[النساء: 34] - سياق اجتماعي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2C5F2D"/>
                </a:solidFill>
              </a:defRPr>
            </a:pPr>
            <a:r>
              <a:t>جدول المقارنة الأساسية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79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59" y="1737360"/>
            <a:ext cx="4754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600" b="1">
                <a:solidFill>
                  <a:srgbClr val="4CAF50"/>
                </a:solidFill>
              </a:defRPr>
            </a:pPr>
            <a:r>
              <a:t>النساء (ن-س-و)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9" y="2377440"/>
            <a:ext cx="45720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الجذر: ن - س - و / ي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المقابل: الرجال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نوع السياق: اجتماعي / قانوني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المواضيع: الزواج، الطلاق، الميراث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عدد الآيات: ~51 آية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754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600" b="1">
                <a:solidFill>
                  <a:srgbClr val="E91E63"/>
                </a:solidFill>
              </a:defRPr>
            </a:pPr>
            <a:r>
              <a:t>أنثى (أ-ن-ث)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45720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الجذر: أ - ن - ث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المقابل: الذكر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نوع السياق: بيولوجي / وجودي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المواضيع: الخلق، الحمل، الجزاء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عدد الآيات: ~22 آية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600" b="1">
                <a:solidFill>
                  <a:srgbClr val="2C5F2D"/>
                </a:solidFill>
              </a:defRPr>
            </a:pPr>
            <a:r>
              <a:t>سياقات استخدام "النساء"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التشريعات الزوجية: الزواج، الطلاق، العدة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أحكام الميراث والحقوق المالية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الأدوار الاجتماعية والقوامة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آداب الحشمة والحجاب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54880"/>
            <a:ext cx="11064240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8920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200" b="1">
                <a:solidFill>
                  <a:srgbClr val="2C5F2D"/>
                </a:solidFill>
              </a:defRPr>
            </a:pPr>
            <a:r>
              <a:t>﴿وَإِن طَلَّقْتُمُ النِّسَاءَ فَبَلَغْنَ أَجَلَهُنَّ﴾</a:t>
            </a:r>
          </a:p>
          <a:p>
            <a:pPr algn="ctr" a:rtl="1">
              <a:defRPr sz="1400">
                <a:solidFill>
                  <a:srgbClr val="666666"/>
                </a:solidFill>
              </a:defRPr>
            </a:pPr>
            <a:r>
              <a:t>[البقرة: 231]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600" b="1">
                <a:solidFill>
                  <a:srgbClr val="2C5F2D"/>
                </a:solidFill>
              </a:defRPr>
            </a:pPr>
            <a:r>
              <a:t>سياقات استخدام "أنثى"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الخلق والتكوين: خلق الذكر والأنثى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الحمل والولادة: ما تحمل كل أنثى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المساواة في الجزاء: من ذكر أو أنثى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توزيع الذرية: يهب إناثاً أو ذكوراً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54880"/>
            <a:ext cx="11064240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8920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200" b="1">
                <a:solidFill>
                  <a:srgbClr val="2C5F2D"/>
                </a:solidFill>
              </a:defRPr>
            </a:pPr>
            <a:r>
              <a:t>﴿خَلَقْنَاكُم مِّن ذَكَرٍ وَأُنثَىٰ﴾</a:t>
            </a:r>
          </a:p>
          <a:p>
            <a:pPr algn="ctr" a:rtl="1">
              <a:defRPr sz="1400">
                <a:solidFill>
                  <a:srgbClr val="666666"/>
                </a:solidFill>
              </a:defRPr>
            </a:pPr>
            <a:r>
              <a:t>[الحجرات: 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2C5F2D"/>
                </a:solidFill>
              </a:defRPr>
            </a:pPr>
            <a:r>
              <a:t>🔍 النمط القرآني المكتشف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79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59" y="1737360"/>
            <a:ext cx="4754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600" b="1">
                <a:solidFill>
                  <a:srgbClr val="4CAF50"/>
                </a:solidFill>
              </a:defRPr>
            </a:pPr>
            <a:r>
              <a:t>الرجال والنساء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9" y="2377440"/>
            <a:ext cx="45720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سياق الأحكام الشرعية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الأدوار الاجتماعية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الحقوق والواجبات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= تمييز اجتماعي / قانوني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754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600" b="1">
                <a:solidFill>
                  <a:srgbClr val="E91E63"/>
                </a:solidFill>
              </a:defRPr>
            </a:pPr>
            <a:r>
              <a:t>الذكر والأنثى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45720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سياق الخلق والوجود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المساواة أمام الله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الجزاء الأخروي</a:t>
            </a:r>
          </a:p>
          <a:p>
            <a:pPr algn="r" a:rtl="1">
              <a:spcAft>
                <a:spcPts val="1000"/>
              </a:spcAft>
              <a:defRPr sz="1600">
                <a:solidFill>
                  <a:srgbClr val="1E2761"/>
                </a:solidFill>
              </a:defRPr>
            </a:pPr>
            <a:r>
              <a:t>◆ = تمييز بيولوجي / وجودي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400" b="1">
                <a:solidFill>
                  <a:srgbClr val="FFFFFF"/>
                </a:solidFill>
              </a:defRPr>
            </a:pPr>
            <a:r>
              <a:t>📖 الدليل الأول: السياق الاجتماعي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200">
                <a:solidFill>
                  <a:srgbClr val="97BC62"/>
                </a:solidFill>
              </a:defRPr>
            </a:pPr>
            <a:r>
              <a:t>"النساء" تُستخدم في سياق الأدوار والمسؤوليات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9966960" cy="2011680"/>
          </a:xfrm>
          <a:prstGeom prst="roundRect">
            <a:avLst/>
          </a:prstGeom>
          <a:solidFill>
            <a:srgbClr val="E8F5E9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600" b="1">
                <a:solidFill>
                  <a:srgbClr val="2C5F2D"/>
                </a:solidFill>
              </a:defRPr>
            </a:pPr>
            <a:r>
              <a:t>﴿وَآتُوا النِّسَاءَ صَدُقَاتِهِنَّ نِحْلَةً﴾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600">
                <a:solidFill>
                  <a:srgbClr val="666666"/>
                </a:solidFill>
              </a:defRPr>
            </a:pPr>
            <a:r>
              <a:t>[النساء: 4] - حق المهر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400" b="1">
                <a:solidFill>
                  <a:srgbClr val="FFFFFF"/>
                </a:solidFill>
              </a:defRPr>
            </a:pPr>
            <a:r>
              <a:t>📖 الدليل الثاني: السياق البيولوجي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200">
                <a:solidFill>
                  <a:srgbClr val="97BC62"/>
                </a:solidFill>
              </a:defRPr>
            </a:pPr>
            <a:r>
              <a:t>"أنثى" تُستخدم في سياق الخلق والتكوين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9966960" cy="2011680"/>
          </a:xfrm>
          <a:prstGeom prst="roundRect">
            <a:avLst/>
          </a:prstGeom>
          <a:solidFill>
            <a:srgbClr val="E8F5E9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600" b="1">
                <a:solidFill>
                  <a:srgbClr val="2C5F2D"/>
                </a:solidFill>
              </a:defRPr>
            </a:pPr>
            <a:r>
              <a:t>﴿اللَّهُ يَعْلَمُ مَا تَحْمِلُ كُلُّ أُنثَىٰ﴾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600">
                <a:solidFill>
                  <a:srgbClr val="666666"/>
                </a:solidFill>
              </a:defRPr>
            </a:pPr>
            <a:r>
              <a:t>[الرعد: 8] - الوظيفة البيولوجية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400" b="1">
                <a:solidFill>
                  <a:srgbClr val="FFFFFF"/>
                </a:solidFill>
              </a:defRPr>
            </a:pPr>
            <a:r>
              <a:t>📖 الدليل الثالث: المساواة الوجودية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200">
                <a:solidFill>
                  <a:srgbClr val="97BC62"/>
                </a:solidFill>
              </a:defRPr>
            </a:pPr>
            <a:r>
              <a:t>"ذكر أو أنثى" في سياق المساواة أمام الله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9966960" cy="2011680"/>
          </a:xfrm>
          <a:prstGeom prst="roundRect">
            <a:avLst/>
          </a:prstGeom>
          <a:solidFill>
            <a:srgbClr val="E8F5E9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600" b="1">
                <a:solidFill>
                  <a:srgbClr val="2C5F2D"/>
                </a:solidFill>
              </a:defRPr>
            </a:pPr>
            <a:r>
              <a:t>﴿مَنْ عَمِلَ صَالِحًا مِّن ذَكَرٍ أَوْ أُنثَىٰ وَهُوَ مُؤْمِنٌ﴾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600">
                <a:solidFill>
                  <a:srgbClr val="666666"/>
                </a:solidFill>
              </a:defRPr>
            </a:pPr>
            <a:r>
              <a:t>[النحل: 97]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600" b="1">
                <a:solidFill>
                  <a:srgbClr val="2C5F2D"/>
                </a:solidFill>
              </a:defRPr>
            </a:pPr>
            <a:r>
              <a:t>لماذا لا يمكن استبدال إحداهما بالأخرى؟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"قوامون على النساء" ← لو قال "على الإناث" لأصبح بيولوجياً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"خلقناكم من ذكر وأنثى" ← يؤكد المساواة في الأصل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"من ذكر أو أنثى" ← مساواة في التكليف والجزاء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كل كلمة تحمل دلالة خاصة لا تؤديها الأخرى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600" b="1">
                <a:solidFill>
                  <a:srgbClr val="2C5F2D"/>
                </a:solidFill>
              </a:defRPr>
            </a:pPr>
            <a:r>
              <a:t>💡 الخلاصة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النساء = الفئة الاجتماعية والقانونية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أنثى = الفئة البيولوجية والوجودية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الكلمتان ليستا مترادفتين في القرآن</a:t>
            </a:r>
          </a:p>
          <a:p>
            <a:pPr algn="r" a:rtl="1">
              <a:spcAft>
                <a:spcPts val="1600"/>
              </a:spcAft>
              <a:defRPr sz="2000">
                <a:solidFill>
                  <a:srgbClr val="1E2761"/>
                </a:solidFill>
              </a:defRPr>
            </a:pPr>
            <a:r>
              <a:t>• هذا يُظهر الدقة البلاغية في الاختيار القرآني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4800" b="1">
                <a:solidFill>
                  <a:srgbClr val="FFFFFF"/>
                </a:solidFill>
              </a:defRPr>
            </a:pPr>
            <a:r>
              <a:t>شكراً لاهتمامكم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400">
                <a:solidFill>
                  <a:srgbClr val="97BC62"/>
                </a:solidFill>
              </a:defRPr>
            </a:pPr>
            <a:r>
              <a:t>هذا التقرير للدراسة والتأمل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