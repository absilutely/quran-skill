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أهل النار وصفاتهم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D69E2E"/>
                </a:solidFill>
              </a:defRPr>
            </a:pPr>
            <a:r>
              <a:t>دراسة تفصيلية لكل مصطلح من مصطلحات النار في القرآن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000" b="1">
                <a:solidFill>
                  <a:srgbClr val="FFFFFF"/>
                </a:solidFill>
              </a:defRPr>
            </a:pPr>
            <a:r>
              <a:t>١. جهنم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200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69E2E"/>
                </a:solidFill>
              </a:defRPr>
            </a:pPr>
            <a:r>
              <a:t>٧٧ آية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C53030"/>
                </a:solidFill>
              </a:defRPr>
            </a:pPr>
            <a:r>
              <a:t>◆ الكافرون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>
                <a:solidFill>
                  <a:srgbClr val="1A202C"/>
                </a:solidFill>
              </a:defRPr>
            </a:pPr>
            <a:r>
              <a:t>▸ رفض الإيمان بالله (٣:١٢)</a:t>
            </a:r>
          </a:p>
          <a:p>
            <a:pPr algn="r">
              <a:defRPr sz="1800">
                <a:solidFill>
                  <a:srgbClr val="1A202C"/>
                </a:solidFill>
              </a:defRPr>
            </a:pPr>
            <a:r>
              <a:t>▸ الكفر بالآيات (١٨:١٠٠)</a:t>
            </a:r>
          </a:p>
          <a:p>
            <a:pPr algn="r">
              <a:defRPr sz="1800">
                <a:solidFill>
                  <a:srgbClr val="1A202C"/>
                </a:solidFill>
              </a:defRPr>
            </a:pPr>
            <a:r>
              <a:t>▸ تكذيب الحق (٣٩:٣٢)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C53030"/>
                </a:solidFill>
              </a:defRPr>
            </a:pPr>
            <a:r>
              <a:t>◆ المنافقون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>
                <a:solidFill>
                  <a:srgbClr val="1A202C"/>
                </a:solidFill>
              </a:defRPr>
            </a:pPr>
            <a:r>
              <a:t>▸ الجلوس مع المستهزئين (٤:١٤٠)</a:t>
            </a:r>
          </a:p>
          <a:p>
            <a:pPr algn="r">
              <a:defRPr sz="1800">
                <a:solidFill>
                  <a:srgbClr val="1A202C"/>
                </a:solidFill>
              </a:defRPr>
            </a:pPr>
            <a:r>
              <a:t>▸ النفاق (٩:٦٨)</a:t>
            </a:r>
          </a:p>
          <a:p>
            <a:pPr algn="r">
              <a:defRPr sz="1800">
                <a:solidFill>
                  <a:srgbClr val="1A202C"/>
                </a:solidFill>
              </a:defRPr>
            </a:pPr>
            <a:r>
              <a:t>▸ سوء الظن بالله (٤٨:٦)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C53030"/>
                </a:solidFill>
              </a:defRPr>
            </a:pPr>
            <a:r>
              <a:t>◆ المتكبرون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>
                <a:solidFill>
                  <a:srgbClr val="1A202C"/>
                </a:solidFill>
              </a:defRPr>
            </a:pPr>
            <a:r>
              <a:t>▸ التكبر عن العبادة (١٦:٢٩)</a:t>
            </a:r>
          </a:p>
          <a:p>
            <a:pPr algn="r">
              <a:defRPr sz="1800">
                <a:solidFill>
                  <a:srgbClr val="1A202C"/>
                </a:solidFill>
              </a:defRPr>
            </a:pPr>
            <a:r>
              <a:t>▸ الاستكبار (٤٠:٧٦)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29200"/>
            <a:ext cx="11277295" cy="16459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12064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>
                <a:solidFill>
                  <a:srgbClr val="FFFFFF"/>
                </a:solidFill>
              </a:defRPr>
            </a:pPr>
            <a:r>
              <a:t>● الكفر بالله ورسله - المصير الأساسي</a:t>
            </a:r>
          </a:p>
          <a:p>
            <a:pPr algn="r">
              <a:defRPr sz="1600">
                <a:solidFill>
                  <a:srgbClr val="FFFFFF"/>
                </a:solidFill>
              </a:defRPr>
            </a:pPr>
            <a:r>
              <a:t>● النفاق - إظهار الإيمان وإخفاء الكفر</a:t>
            </a:r>
          </a:p>
          <a:p>
            <a:pPr algn="r">
              <a:defRPr sz="1600">
                <a:solidFill>
                  <a:srgbClr val="FFFFFF"/>
                </a:solidFill>
              </a:defRPr>
            </a:pPr>
            <a:r>
              <a:t>● الشرك والتكبر والظلم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000" b="1">
                <a:solidFill>
                  <a:srgbClr val="FFFFFF"/>
                </a:solidFill>
              </a:defRPr>
            </a:pPr>
            <a:r>
              <a:t>٢. السعير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200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69E2E"/>
                </a:solidFill>
              </a:defRPr>
            </a:pPr>
            <a:r>
              <a:t>١٦ آية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D69E2E"/>
                </a:solidFill>
              </a:defRPr>
            </a:pPr>
            <a:r>
              <a:t>◆ الشيطان وحزبه 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>
                <a:solidFill>
                  <a:srgbClr val="1A202C"/>
                </a:solidFill>
              </a:defRPr>
            </a:pPr>
            <a:r>
              <a:t>▸ الشياطين أنفسهم (٦٧:٥)</a:t>
            </a:r>
          </a:p>
          <a:p>
            <a:pPr algn="r">
              <a:defRPr sz="1800">
                <a:solidFill>
                  <a:srgbClr val="1A202C"/>
                </a:solidFill>
              </a:defRPr>
            </a:pPr>
            <a:r>
              <a:t>▸ حزب الشيطان (٣٥:٦)</a:t>
            </a:r>
          </a:p>
          <a:p>
            <a:pPr algn="r">
              <a:defRPr sz="1800">
                <a:solidFill>
                  <a:srgbClr val="1A202C"/>
                </a:solidFill>
              </a:defRPr>
            </a:pPr>
            <a:r>
              <a:t>▸ من اتخذ الشيطان ولياً (٢٢:٤)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D69E2E"/>
                </a:solidFill>
              </a:defRPr>
            </a:pPr>
            <a:r>
              <a:t>◆ صفات أخرى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>
                <a:solidFill>
                  <a:srgbClr val="1A202C"/>
                </a:solidFill>
              </a:defRPr>
            </a:pPr>
            <a:r>
              <a:t>▸ اتباع الآباء رغم ضلالهم (٣١:٢١)</a:t>
            </a:r>
          </a:p>
          <a:p>
            <a:pPr algn="r">
              <a:defRPr sz="1800">
                <a:solidFill>
                  <a:srgbClr val="1A202C"/>
                </a:solidFill>
              </a:defRPr>
            </a:pPr>
            <a:r>
              <a:t>▸ عدم استخدام العقل (٦٧:١٠)</a:t>
            </a:r>
          </a:p>
          <a:p>
            <a:pPr algn="r">
              <a:defRPr sz="1800">
                <a:solidFill>
                  <a:srgbClr val="1A202C"/>
                </a:solidFill>
              </a:defRPr>
            </a:pPr>
            <a:r>
              <a:t>▸ أكل أموال اليتامى (٤:١٠)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029200"/>
            <a:ext cx="11277295" cy="16459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>
                <a:solidFill>
                  <a:srgbClr val="FFFFFF"/>
                </a:solidFill>
              </a:defRPr>
            </a:pPr>
            <a:r>
              <a:t>● اتباع الشيطان - العلاقة الفريدة!</a:t>
            </a:r>
          </a:p>
          <a:p>
            <a:pPr algn="r">
              <a:defRPr sz="1600">
                <a:solidFill>
                  <a:srgbClr val="FFFFFF"/>
                </a:solidFill>
              </a:defRPr>
            </a:pPr>
            <a:r>
              <a:t>● السعير مخصص للشيطان وأتباعه</a:t>
            </a:r>
          </a:p>
          <a:p>
            <a:pPr algn="r">
              <a:defRPr sz="1600">
                <a:solidFill>
                  <a:srgbClr val="FFFFFF"/>
                </a:solidFill>
              </a:defRPr>
            </a:pPr>
            <a:r>
              <a:t>● تعطيل العقل وظلم الضعفاء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53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٣. سقر - الآية الفريدة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77295" cy="2011680"/>
          </a:xfrm>
          <a:prstGeom prst="rect">
            <a:avLst/>
          </a:prstGeom>
          <a:solidFill>
            <a:srgbClr val="FFFFFF"/>
          </a:solidFill>
          <a:ln w="3810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43055" y="1280160"/>
            <a:ext cx="91440" cy="201168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>
                <a:solidFill>
                  <a:srgbClr val="1A202C"/>
                </a:solidFill>
              </a:defRPr>
            </a:pPr>
            <a:r>
              <a:t>{مَا سَلَكَكُمْ فِى سَقَرَ ۝ قَالُوا۟ لَمْ نَكُ مِنَ ٱلْمُصَلِّينَ ۝ وَلَمْ نَكُ نُطْعِمُ ٱلْمِسْكِينَ ۝ وَكُنَّا نَخُوضُ مَعَ ٱلْخَآئِضِينَ ۝ وَكُنَّا نُكَذِّبُ بِيَوْمِ ٱلدِّينِ}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553C9A"/>
                </a:solidFill>
              </a:defRPr>
            </a:pPr>
            <a:r>
              <a:t>المدثر: ٤٢-٤٦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1072865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2000">
                <a:solidFill>
                  <a:srgbClr val="1A202C"/>
                </a:solidFill>
              </a:defRPr>
            </a:pPr>
            <a:r>
              <a:t>◆ ١. ترك الصلاة - أول ذنب مذكور!</a:t>
            </a:r>
          </a:p>
          <a:p>
            <a:pPr algn="r">
              <a:spcAft>
                <a:spcPts val="1200"/>
              </a:spcAft>
              <a:defRPr sz="2000">
                <a:solidFill>
                  <a:srgbClr val="1A202C"/>
                </a:solidFill>
              </a:defRPr>
            </a:pPr>
            <a:r>
              <a:t>◆ ٢. ترك إطعام المسكين - البخل على الفقراء</a:t>
            </a:r>
          </a:p>
          <a:p>
            <a:pPr algn="r">
              <a:spcAft>
                <a:spcPts val="1200"/>
              </a:spcAft>
              <a:defRPr sz="2000">
                <a:solidFill>
                  <a:srgbClr val="1A202C"/>
                </a:solidFill>
              </a:defRPr>
            </a:pPr>
            <a:r>
              <a:t>◆ ٣. الخوض مع الخائضين - الاستهزاء والسخرية</a:t>
            </a:r>
          </a:p>
          <a:p>
            <a:pPr algn="r">
              <a:spcAft>
                <a:spcPts val="1200"/>
              </a:spcAft>
              <a:defRPr sz="2000">
                <a:solidFill>
                  <a:srgbClr val="1A202C"/>
                </a:solidFill>
              </a:defRPr>
            </a:pPr>
            <a:r>
              <a:t>◆ ٤. تكذيب يوم الدين - إنكار الآخرة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٤. لظى - نار البخلاء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77295" cy="2011680"/>
          </a:xfrm>
          <a:prstGeom prst="rect">
            <a:avLst/>
          </a:prstGeom>
          <a:solidFill>
            <a:srgbClr val="FFFFFF"/>
          </a:solidFill>
          <a:ln w="3810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43055" y="1280160"/>
            <a:ext cx="91440" cy="201168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>
                <a:solidFill>
                  <a:srgbClr val="1A202C"/>
                </a:solidFill>
              </a:defRPr>
            </a:pPr>
            <a:r>
              <a:t>{كَلَّآ إِنَّهَا لَظَىٰ ۝ نَزَّاعَةً لِّلشَّوَىٰ ۝ تَدْعُوا۟ مَنْ أَدْبَرَ وَتَوَلَّىٰ ۝ وَجَمَعَ فَأَوْعَىٰ}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C05621"/>
                </a:solidFill>
              </a:defRPr>
            </a:pPr>
            <a:r>
              <a:t>المعارج: ١٥-١٨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1072865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2000">
                <a:solidFill>
                  <a:srgbClr val="1A202C"/>
                </a:solidFill>
              </a:defRPr>
            </a:pPr>
            <a:r>
              <a:t>◆ أَدْبَرَ - أعرض عن الحق</a:t>
            </a:r>
          </a:p>
          <a:p>
            <a:pPr algn="r">
              <a:spcAft>
                <a:spcPts val="1200"/>
              </a:spcAft>
              <a:defRPr sz="2000">
                <a:solidFill>
                  <a:srgbClr val="1A202C"/>
                </a:solidFill>
              </a:defRPr>
            </a:pPr>
            <a:r>
              <a:t>◆ تَوَلَّىٰ - تولى عن الإيمان</a:t>
            </a:r>
          </a:p>
          <a:p>
            <a:pPr algn="r">
              <a:spcAft>
                <a:spcPts val="1200"/>
              </a:spcAft>
              <a:defRPr sz="2000">
                <a:solidFill>
                  <a:srgbClr val="1A202C"/>
                </a:solidFill>
              </a:defRPr>
            </a:pPr>
            <a:r>
              <a:t>◆ جَمَعَ - جمع المال</a:t>
            </a:r>
          </a:p>
          <a:p>
            <a:pPr algn="r">
              <a:spcAft>
                <a:spcPts val="1200"/>
              </a:spcAft>
              <a:defRPr sz="2000">
                <a:solidFill>
                  <a:srgbClr val="1A202C"/>
                </a:solidFill>
              </a:defRPr>
            </a:pPr>
            <a:r>
              <a:t>◆ أَوْعَىٰ - كنزه ومنعه</a:t>
            </a:r>
          </a:p>
          <a:p>
            <a:pPr algn="r">
              <a:spcAft>
                <a:spcPts val="1200"/>
              </a:spcAft>
              <a:defRPr sz="2000">
                <a:solidFill>
                  <a:srgbClr val="1A202C"/>
                </a:solidFill>
              </a:defRPr>
            </a:pPr>
            <a:r>
              <a:t>◆ طبيعتها: تنزع جلدة الرأس وتجذب أهلها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٥. الحطمة - نار المغتابين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77295" cy="2011680"/>
          </a:xfrm>
          <a:prstGeom prst="rect">
            <a:avLst/>
          </a:prstGeom>
          <a:solidFill>
            <a:srgbClr val="FFFFFF"/>
          </a:solidFill>
          <a:ln w="3810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43055" y="1280160"/>
            <a:ext cx="91440" cy="201168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>
                <a:solidFill>
                  <a:srgbClr val="1A202C"/>
                </a:solidFill>
              </a:defRPr>
            </a:pPr>
            <a:r>
              <a:t>{وَيْلٌ لِّكُلِّ هُمَزَةٍ لُّمَزَةٍ ۝ ٱلَّذِى جَمَعَ مَالًا وَعَدَّدَهُۥ ۝ يَحْسَبُ أَنَّ مَالَهُۥٓ أَخْلَدَهُۥ ۝ كَلَّا ۖ لَيُنۢبَذَنَّ فِى ٱلْحُطَمَةِ}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276749"/>
                </a:solidFill>
              </a:defRPr>
            </a:pPr>
            <a:r>
              <a:t>الهمزة: ١-٤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1072865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2000">
                <a:solidFill>
                  <a:srgbClr val="1A202C"/>
                </a:solidFill>
              </a:defRPr>
            </a:pPr>
            <a:r>
              <a:t>◆ هُمَزَة - يغتاب الناس ويطعن فيهم</a:t>
            </a:r>
          </a:p>
          <a:p>
            <a:pPr algn="r">
              <a:spcAft>
                <a:spcPts val="1200"/>
              </a:spcAft>
              <a:defRPr sz="2000">
                <a:solidFill>
                  <a:srgbClr val="1A202C"/>
                </a:solidFill>
              </a:defRPr>
            </a:pPr>
            <a:r>
              <a:t>◆ لُمَزَة - يعيب الناس ويسخر منهم</a:t>
            </a:r>
          </a:p>
          <a:p>
            <a:pPr algn="r">
              <a:spcAft>
                <a:spcPts val="1200"/>
              </a:spcAft>
              <a:defRPr sz="2000">
                <a:solidFill>
                  <a:srgbClr val="1A202C"/>
                </a:solidFill>
              </a:defRPr>
            </a:pPr>
            <a:r>
              <a:t>◆ جمع المال وعدّه</a:t>
            </a:r>
          </a:p>
          <a:p>
            <a:pPr algn="r">
              <a:spcAft>
                <a:spcPts val="1200"/>
              </a:spcAft>
              <a:defRPr sz="2000">
                <a:solidFill>
                  <a:srgbClr val="1A202C"/>
                </a:solidFill>
              </a:defRPr>
            </a:pPr>
            <a:r>
              <a:t>◆ يظن أن المال يخلده</a:t>
            </a:r>
          </a:p>
          <a:p>
            <a:pPr algn="r">
              <a:spcAft>
                <a:spcPts val="1200"/>
              </a:spcAft>
              <a:defRPr sz="2000">
                <a:solidFill>
                  <a:srgbClr val="1A202C"/>
                </a:solidFill>
              </a:defRPr>
            </a:pPr>
            <a:r>
              <a:t>◆ طبيعتها: تطّلع على الأفئدة (تصل للقلوب!)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7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٦. هاوية - هوة من خفت موازينه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77295" cy="2011680"/>
          </a:xfrm>
          <a:prstGeom prst="rect">
            <a:avLst/>
          </a:prstGeom>
          <a:solidFill>
            <a:srgbClr val="FFFFFF"/>
          </a:solidFill>
          <a:ln w="3810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43055" y="1280160"/>
            <a:ext cx="91440" cy="201168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>
                <a:solidFill>
                  <a:srgbClr val="1A202C"/>
                </a:solidFill>
              </a:defRPr>
            </a:pPr>
            <a:r>
              <a:t>{وَأَمَّا مَنْ خَفَّتْ مَوَٰزِينُهُۥ ۝ فَأُمُّهُۥ هَاوِيَةٌ ۝ وَمَآ أَدْرَىٰكَ مَا هِيَهْ ۝ نَارٌ حَامِيَةٌ}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2C7A7B"/>
                </a:solidFill>
              </a:defRPr>
            </a:pPr>
            <a:r>
              <a:t>القارعة: ٨-١١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1072865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2000">
                <a:solidFill>
                  <a:srgbClr val="1A202C"/>
                </a:solidFill>
              </a:defRPr>
            </a:pPr>
            <a:r>
              <a:t>◆ الصفة الوحيدة: خفة الميزان</a:t>
            </a:r>
          </a:p>
          <a:p>
            <a:pPr algn="r">
              <a:spcAft>
                <a:spcPts val="1200"/>
              </a:spcAft>
              <a:defRPr sz="2000">
                <a:solidFill>
                  <a:srgbClr val="1A202C"/>
                </a:solidFill>
              </a:defRPr>
            </a:pPr>
            <a:r>
              <a:t>◆ قلة الحسنات عن السيئات</a:t>
            </a:r>
          </a:p>
          <a:p>
            <a:pPr algn="r">
              <a:spcAft>
                <a:spcPts val="1200"/>
              </a:spcAft>
              <a:defRPr sz="2000">
                <a:solidFill>
                  <a:srgbClr val="1A202C"/>
                </a:solidFill>
              </a:defRPr>
            </a:pPr>
            <a:r>
              <a:t>◆ نقص الأعمال الصالحة</a:t>
            </a:r>
          </a:p>
          <a:p>
            <a:pPr algn="r">
              <a:spcAft>
                <a:spcPts val="1200"/>
              </a:spcAft>
              <a:defRPr sz="2000">
                <a:solidFill>
                  <a:srgbClr val="1A202C"/>
                </a:solidFill>
              </a:defRPr>
            </a:pPr>
            <a:r>
              <a:t>◆ طبيعتها: هوة سحيقة + نار حامية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الجدول المقارن الشامل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11643055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3200400"/>
                <a:gridCol w="3413455"/>
              </a:tblGrid>
              <a:tr h="757645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المصطلح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الصنف الرئيسي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الذنب المميز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الطبيعة الخاصة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</a:defRPr>
                      </a:pPr>
                      <a:r>
                        <a:t>جهنم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</a:defRPr>
                      </a:pPr>
                      <a:r>
                        <a:t>الكافرون والمنافقون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</a:defRPr>
                      </a:pPr>
                      <a:r>
                        <a:t>الكفر والنفاق والشرك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</a:defRPr>
                      </a:pPr>
                      <a:r>
                        <a:t>خالدين فيها أبداً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</a:defRPr>
                      </a:pPr>
                      <a:r>
                        <a:t>السعير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</a:defRPr>
                      </a:pPr>
                      <a:r>
                        <a:t>الشيطان وحزبه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</a:defRPr>
                      </a:pPr>
                      <a:r>
                        <a:t>اتباع الشيطان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</a:defRPr>
                      </a:pPr>
                      <a:r>
                        <a:t>مخصص للشيطان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</a:defRPr>
                      </a:pPr>
                      <a:r>
                        <a:t>سقر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</a:defRPr>
                      </a:pPr>
                      <a:r>
                        <a:t>تاركو الصلاة والزكاة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</a:defRPr>
                      </a:pPr>
                      <a:r>
                        <a:t>ترك أركان الإسلام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</a:defRPr>
                      </a:pPr>
                      <a:r>
                        <a:t>لا تبقي ولا تذر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</a:defRPr>
                      </a:pPr>
                      <a:r>
                        <a:t>لظى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</a:defRPr>
                      </a:pPr>
                      <a:r>
                        <a:t>جامعو المال البخلاء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</a:defRPr>
                      </a:pPr>
                      <a:r>
                        <a:t>كنز المال والإعراض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</a:defRPr>
                      </a:pPr>
                      <a:r>
                        <a:t>تنزع جلدة الرأس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</a:defRPr>
                      </a:pPr>
                      <a:r>
                        <a:t>الحطمة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</a:defRPr>
                      </a:pPr>
                      <a:r>
                        <a:t>الهمازون اللمازون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</a:defRPr>
                      </a:pPr>
                      <a:r>
                        <a:t>الغيبة والسخرية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</a:defRPr>
                      </a:pPr>
                      <a:r>
                        <a:t>تطلع على الأفئدة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5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</a:defRPr>
                      </a:pPr>
                      <a:r>
                        <a:t>هاوية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</a:defRPr>
                      </a:pPr>
                      <a:r>
                        <a:t>من خفت موازينه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</a:defRPr>
                      </a:pPr>
                      <a:r>
                        <a:t>قلة الحسنات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</a:defRPr>
                      </a:pPr>
                      <a:r>
                        <a:t>هوة سحيقة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الاستنتاج الرئيسي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D69E2E"/>
                </a:solidFill>
              </a:defRPr>
            </a:pPr>
            <a:r>
              <a:t>كل مصطلح مخصص لفئة معينة من الذنوب</a:t>
            </a:r>
            <a:br/>
            <a:r>
              <a:t>دليل على دقة العدل الإلهي في المجازاة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شكراً لاهتمامكم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D69E2E"/>
                </a:solidFill>
              </a:defRPr>
            </a:pPr>
            <a:r>
              <a:t>دراسة قرآنية بحتة وفق منهج "القرآن يفسر نفسه"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