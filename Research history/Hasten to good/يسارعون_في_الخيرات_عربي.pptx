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الْخَيْرَاتِ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C9A227"/>
                </a:solidFill>
                <a:latin typeface="Arial"/>
              </a:defRPr>
            </a:pPr>
            <a:r>
              <a:t>مَن هُم؟ وما صِفاتُهم؟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18096"/>
                </a:solidFill>
                <a:latin typeface="Arial"/>
              </a:defRPr>
            </a:pPr>
            <a:r>
              <a:t>المعنى القرآني مقابل التفسير التقليدي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 i="0">
                <a:solidFill>
                  <a:srgbClr val="0D5C63"/>
                </a:solidFill>
                <a:latin typeface="Arial"/>
              </a:defRPr>
            </a:pPr>
            <a:r>
              <a:t>السؤال المحوري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 i="1">
                <a:solidFill>
                  <a:srgbClr val="2D3748"/>
                </a:solidFill>
                <a:latin typeface="Arial"/>
              </a:defRPr>
            </a:pPr>
            <a:r>
              <a:t>مَن هم الذين وصفهم القرآن بأنهم يُسَارِعُونَ فِي الْخَيْرَاتِ؟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718096"/>
                </a:solidFill>
                <a:latin typeface="Arial"/>
              </a:defRPr>
            </a:pPr>
            <a:r>
              <a:t>وما الصفات التي تُميّزهم؟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718096"/>
                </a:solidFill>
                <a:latin typeface="Arial"/>
              </a:defRPr>
            </a:pPr>
            <a:r>
              <a:t>منهجان للفهم: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3383280"/>
            <a:ext cx="3840480" cy="13716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التفسير التقليدي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"المسارعة تعني السرعة في فعل الخير"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الدليل القرآني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صفات محددة وخصائص قلبية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DC2626"/>
                </a:solidFill>
                <a:latin typeface="Arial"/>
              </a:defRPr>
            </a:pPr>
            <a:r>
              <a:t>❌  التفسير التقليدي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 i="0">
                <a:solidFill>
                  <a:srgbClr val="2D3748"/>
                </a:solidFill>
                <a:latin typeface="Arial"/>
              </a:defRPr>
            </a:pPr>
            <a:r>
              <a:t>الفهم الشائع: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"يسارعون" تعني ببساطة: يفعلون الخير بسرعة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التركيز على سرعة الأفعال وكثرتها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كل من يكثر من الخيرات يدخل في هذا الوصف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الاهتمام بالظاهر دون الباطن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 i="0">
                <a:solidFill>
                  <a:srgbClr val="DC2626"/>
                </a:solidFill>
                <a:latin typeface="Arial"/>
              </a:defRPr>
            </a:pPr>
            <a:r>
              <a:t>ما الذي يغفله هذا الفهم؟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0">
                <a:solidFill>
                  <a:srgbClr val="2D3748"/>
                </a:solidFill>
                <a:latin typeface="Arial"/>
              </a:defRPr>
            </a:pPr>
            <a:r>
              <a:t>القرآن يذكر صفات محددة لهؤلاء الناس — الأمر ليس مجرد سرعة، بل هو عن هويتهم وحالتهم الروحية.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✓  الدليل الأول: سورة الأنبياء ٢١:٩٠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 i="0">
                <a:solidFill>
                  <a:srgbClr val="0D5C63"/>
                </a:solidFill>
                <a:latin typeface="Arial"/>
              </a:defRPr>
            </a:pPr>
            <a:r>
              <a:t>إِنَّهُمْ كَانُوا۟ يُسَـٰرِعُونَ فِى ٱلْخَيْرَٰتِ وَيَدْعُونَنَا رَغَبًا وَرَهَبًا ۖ وَكَانُوا۟ لَنَا خَـٰشِعِينَ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مَن هُم؟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 i="0">
                <a:solidFill>
                  <a:srgbClr val="2D3748"/>
                </a:solidFill>
                <a:latin typeface="Arial"/>
              </a:defRPr>
            </a:pPr>
            <a:r>
              <a:t>الأنبياء زكريا ويحيى وأهلهما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صفاتهم: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17136" y="274320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يُسَارِعُونَ فِي الْخَيْرَاتِ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7136" y="333756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472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يَدْعُونَنَا رَغَبًا وَرَهَبًا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7136" y="393192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416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كَانُوا لَنَا خَاشِعِينَ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✓  الدليل الثاني: سورة المؤمنون ٢٣:٥٧-٦١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 i="0">
                <a:solidFill>
                  <a:srgbClr val="0D5C63"/>
                </a:solidFill>
                <a:latin typeface="Arial"/>
              </a:defRPr>
            </a:pPr>
            <a:r>
              <a:t>أُو۟لَـٰٓئِكَ يُسَـٰرِعُونَ فِى ٱلْخَيْرَٰتِ وَهُمْ لَهَا سَـٰبِقُونَ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ذكر القرآن ٥ صفات قبل هذه العبارة:</a:t>
            </a:r>
          </a:p>
        </p:txBody>
      </p:sp>
      <p:sp>
        <p:nvSpPr>
          <p:cNvPr id="8" name="Oval 7"/>
          <p:cNvSpPr/>
          <p:nvPr/>
        </p:nvSpPr>
        <p:spPr>
          <a:xfrm>
            <a:off x="4023359" y="228600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0791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مِنْ خَشْيَةِ رَبِّهِم مُشْفِقُونَ</a:t>
            </a:r>
          </a:p>
        </p:txBody>
      </p:sp>
      <p:sp>
        <p:nvSpPr>
          <p:cNvPr id="11" name="Oval 10"/>
          <p:cNvSpPr/>
          <p:nvPr/>
        </p:nvSpPr>
        <p:spPr>
          <a:xfrm>
            <a:off x="4023359" y="306324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3108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" y="3081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بِآيَاتِ رَبِّهِمْ يُؤْمِنُونَ</a:t>
            </a:r>
          </a:p>
        </p:txBody>
      </p:sp>
      <p:sp>
        <p:nvSpPr>
          <p:cNvPr id="14" name="Oval 13"/>
          <p:cNvSpPr/>
          <p:nvPr/>
        </p:nvSpPr>
        <p:spPr>
          <a:xfrm>
            <a:off x="4023359" y="3840479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0791" y="3886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19" y="3858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بِرَبِّهِمْ لَا يُشْرِكُونَ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0" y="228600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يُؤْتُونَ مَا آتَوْا...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306324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3108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81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وَقُلُوبُهُمْ وَجِلَةٌ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ملاحظة مهمة: وَهُمْ لَهَا سَابِقُونَ — هم "سابقون" إلى الخير، وليسوا مجرد مسرعين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✓  الدليل الثالث: سورة آل عمران ٣:١١٣-١١٤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 i="0">
                <a:solidFill>
                  <a:srgbClr val="0D5C63"/>
                </a:solidFill>
                <a:latin typeface="Arial"/>
              </a:defRPr>
            </a:pPr>
            <a:r>
              <a:t>وَيُسَـٰرِعُونَ فِى ٱلْخَيْرَٰتِ وَأُو۟لَـٰٓئِكَ مِنَ ٱلصَّـٰلِحِينَ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"وأولئك من الصالحين"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مَن هُم: أُمَّةٌ قَائِمَةٌ من أهل الكتاب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يَتْلُونَ آيَاتِ اللَّهِ آنَاءَ اللَّيْلِ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وَهُمْ يَسْجُدُونَ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يُؤْمِنُونَ بِاللَّهِ وَالْيَوْمِ الْآخِرِ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42900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يَأْمُرُونَ بِالْمَعْرُوفِ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42900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يَنْهَوْنَ عَنِ الْمُنكَرِ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النتيجة: وَأُولَٰئِكَ مِنَ الصَّالِحِينَ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 i="0">
                <a:solidFill>
                  <a:srgbClr val="FFFFFF"/>
                </a:solidFill>
                <a:latin typeface="Arial"/>
              </a:defRPr>
            </a:pPr>
            <a:r>
              <a:t>⚖  المقارنة القرآنية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نفس الفعل "يُسَارِعُونَ" يُستخدم مع أضداد: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الْخَيْرَاتِ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المسارعة في الخير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2860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• الأنبياء وأهلهم</a:t>
            </a:r>
            <a:br/>
            <a:r>
              <a:t>• المؤمنون الصادقون</a:t>
            </a:r>
            <a:br/>
            <a:r>
              <a:t>• الصالحون من أهل الكتاب</a:t>
            </a:r>
            <a:br/>
            <a:br/>
            <a:r>
              <a:t>مقرونة بـ:</a:t>
            </a:r>
            <a:br/>
            <a:r>
              <a:t>خشية، خشوع، إيمان، دعاء، توحيد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الْكُفْرِ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المسارعة في الكفر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• المنافقون (٥:٤١)</a:t>
            </a:r>
            <a:br/>
            <a:r>
              <a:t>• الذين كفروا (٣:١٧٦)</a:t>
            </a:r>
            <a:br/>
            <a:br/>
            <a:r>
              <a:t>وأيضاً:</a:t>
            </a:r>
            <a:br/>
            <a:r>
              <a:t>يُسَارِعُونَ فِي الْإِثْمِ وَالْعُدْوَانِ</a:t>
            </a:r>
            <a:br/>
            <a:r>
              <a:t>(٥:٦٢)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latin typeface="Arial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التوازن بين الرجاء والخوف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9A227"/>
                </a:solidFill>
                <a:latin typeface="Arial"/>
              </a:defRPr>
            </a:pPr>
            <a:r>
              <a:t>وَيَدْعُونَنَا رَغَبًا وَرَهَبًا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718096"/>
                </a:solidFill>
                <a:latin typeface="Arial"/>
              </a:defRPr>
            </a:pPr>
            <a:r>
              <a:t>"يدعوننا بين الرجاء والخوف"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108960"/>
            <a:ext cx="3200400" cy="137160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رَغَبًا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الرجاء</a:t>
            </a:r>
            <a:br/>
            <a:r>
              <a:t>الطمع في ثواب الله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108960"/>
            <a:ext cx="320040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رَهَبًا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الخوف</a:t>
            </a:r>
            <a:br/>
            <a:r>
              <a:t>الخشية من سخط الله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 i="0">
                <a:solidFill>
                  <a:srgbClr val="0D5C63"/>
                </a:solidFill>
                <a:latin typeface="Arial"/>
              </a:defRPr>
            </a:pPr>
            <a:r>
              <a:t>الفهم التقليدي مقابل الدليل القرآني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الفهم التقليدي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الدليل القرآني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التركيز على سرعة الأفعال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التركيز على حال القلب والصفات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574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كل من يُسرع في الخير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574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أشخاص محددون بصفات محددة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265176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الاهتمام بالظاهر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5176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الحال الباطنة: خشية، خشوع، وجل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461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355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"افعل الخير بسرعة"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461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355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مقرونة بالدعاء رغباً ورهباً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84048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تعليم عام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الأنبياء هم المثال الأعلى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  <a:latin typeface="Arial"/>
              </a:defRPr>
            </a:pPr>
            <a:r>
              <a:t>القرآن يُحدد مَن هم هؤلاء — وليس فقط ماذا يفعلون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65760"/>
            <a:ext cx="182880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Arial"/>
              </a:defRPr>
            </a:pPr>
            <a:r>
              <a:t>الخلاصة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C9A227"/>
                </a:solidFill>
                <a:latin typeface="Arial"/>
              </a:defRPr>
            </a:pPr>
            <a:r>
              <a:t>يُسَارِعُونَ فِي الْخَيْرَاتِ ليست مجرد سرعة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بل هي صفة قلبية تتجلى في العمل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إيمان وتوحيد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إيمان عميق</a:t>
            </a:r>
            <a:br/>
            <a:r>
              <a:t>وتوحيد خالص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خشية وخشوع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خوف من الله</a:t>
            </a:r>
            <a:br/>
            <a:r>
              <a:t>وتواضع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رغباً ورهباً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رجاء ممزوج</a:t>
            </a:r>
            <a:br/>
            <a:r>
              <a:t>بالخوف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718096"/>
                </a:solidFill>
                <a:latin typeface="Arial"/>
              </a:defRPr>
            </a:pPr>
            <a:r>
              <a:t>المؤمن يُسابق إلى الخير وهو متواضع خاشع،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718096"/>
                </a:solidFill>
                <a:latin typeface="Arial"/>
              </a:defRPr>
            </a:pPr>
            <a:r>
              <a:t>يعلم أن قبول عمله موقوف على رحمة الله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800600"/>
            <a:ext cx="182880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