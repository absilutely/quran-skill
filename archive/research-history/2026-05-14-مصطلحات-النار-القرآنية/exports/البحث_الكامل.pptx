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مصطلحات النار في القرآن الكريم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D69E2E"/>
                </a:solidFill>
              </a:defRPr>
            </a:pPr>
            <a:r>
              <a:t>دراسة تحليلية للعلاقة بين المصطلحات ومفهوم الخلود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5029200"/>
            <a:ext cx="3962095" cy="5486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5074920"/>
            <a:ext cx="3962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منهج: القرآن يفسر نفسه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نظرة عامة على البحث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800"/>
              </a:spcAft>
              <a:defRPr sz="2400" b="0">
                <a:solidFill>
                  <a:srgbClr val="1A202C"/>
                </a:solidFill>
              </a:defRPr>
            </a:pPr>
            <a:r>
              <a:t>◆  ٨ مصطلحات للنار في القرآن الكريم مدروسة</a:t>
            </a:r>
          </a:p>
          <a:p>
            <a:pPr algn="r">
              <a:spcAft>
                <a:spcPts val="1800"/>
              </a:spcAft>
              <a:defRPr sz="2400" b="0">
                <a:solidFill>
                  <a:srgbClr val="1A202C"/>
                </a:solidFill>
              </a:defRPr>
            </a:pPr>
            <a:r>
              <a:t>◆  ٢٧٠+ آية قرآنية محللة</a:t>
            </a:r>
          </a:p>
          <a:p>
            <a:pPr algn="r">
              <a:spcAft>
                <a:spcPts val="1800"/>
              </a:spcAft>
              <a:defRPr sz="2400" b="0">
                <a:solidFill>
                  <a:srgbClr val="1A202C"/>
                </a:solidFill>
              </a:defRPr>
            </a:pPr>
            <a:r>
              <a:t>◆  ٦ اكتشافات رئيسية من التحليل</a:t>
            </a:r>
          </a:p>
          <a:p>
            <a:pPr algn="r">
              <a:spcAft>
                <a:spcPts val="1800"/>
              </a:spcAft>
              <a:defRPr sz="2400" b="0">
                <a:solidFill>
                  <a:srgbClr val="1A202C"/>
                </a:solidFill>
              </a:defRPr>
            </a:pPr>
            <a:r>
              <a:t>◆  آيتان تحتويان على استثناء إلهي</a:t>
            </a:r>
          </a:p>
          <a:p>
            <a:pPr algn="r">
              <a:spcAft>
                <a:spcPts val="1800"/>
              </a:spcAft>
              <a:defRPr sz="2400" b="0">
                <a:solidFill>
                  <a:srgbClr val="1A202C"/>
                </a:solidFill>
              </a:defRPr>
            </a:pPr>
            <a:r>
              <a:t>◆  منهجية: القرآن يفسر نفسه - دون الاعتماد على التفاسير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المصطلحات الثمانية للنار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7729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3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المصطلح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الجذر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عدد الورود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المعنى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جهنم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ج-ه-ن-م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البئر العميقة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النار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ن-و-ر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145+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النار والاشتعال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السعير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س-ع-ر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اللهب المستعر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الجحيم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ج-ح-م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الحرارة الشديدة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سقر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س-ق-ر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الحرق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لظى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ل-ظ-ى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اللهب الخالص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الحطمة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ح-ط-م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التحطيم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هاوية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ه-و-ى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الهوة السحيقة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مصفوفة الارتباط بالخلود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7729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المصطلح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خالدين أبداً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خالدين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إلا ما شاء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بدون تحديد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جهنم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✓✓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✓✓✓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النار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✓✓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✓✓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✓✓✓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السعير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✓✓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الجحيم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✓✓✓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سقر/لظى/الحطمة/هاوية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202C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آيات الخلود الصريح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7295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3055" y="1463040"/>
            <a:ext cx="91440" cy="128016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1A202C"/>
                </a:solidFill>
              </a:defRPr>
            </a:pPr>
            <a:r>
              <a:t>{إِلَّا طَرِيقَ جَهَنَّمَ خَـٰلِدِينَ فِيهَآ أَبَدًا}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C7A7B"/>
                </a:solidFill>
              </a:defRPr>
            </a:pPr>
            <a:r>
              <a:t>سورة النساء: ١٦٩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1277295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43055" y="2926080"/>
            <a:ext cx="91440" cy="128016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1A202C"/>
                </a:solidFill>
              </a:defRPr>
            </a:pPr>
            <a:r>
              <a:t>{فَإِنَّ لَهُۥ نَارَ جَهَنَّمَ خَـٰلِدِينَ فِيهَآ أَبَدًا}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C7A7B"/>
                </a:solidFill>
              </a:defRPr>
            </a:pPr>
            <a:r>
              <a:t>سورة الجن: ٢٣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11277295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643055" y="4389120"/>
            <a:ext cx="91440" cy="128016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1A202C"/>
                </a:solidFill>
              </a:defRPr>
            </a:pPr>
            <a:r>
              <a:t>{فِى نَارِ جَهَنَّمَ خَـٰلِدِينَ فِيهَآ}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C7A7B"/>
                </a:solidFill>
              </a:defRPr>
            </a:pPr>
            <a:r>
              <a:t>سورة البينة: 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آيات الاستثناء الإلهي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7295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3055" y="1463040"/>
            <a:ext cx="91440" cy="128016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1A202C"/>
                </a:solidFill>
              </a:defRPr>
            </a:pPr>
            <a:r>
              <a:t>{ٱلنَّارُ مَثْوَىٰكُمْ خَـٰلِدِينَ فِيهَآ إِلَّا مَا شَآءَ ٱللَّهُ}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C7A7B"/>
                </a:solidFill>
              </a:defRPr>
            </a:pPr>
            <a:r>
              <a:t>سورة الأنعام: ١٢٨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1277295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43055" y="2926080"/>
            <a:ext cx="91440" cy="128016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1A202C"/>
                </a:solidFill>
              </a:defRPr>
            </a:pPr>
            <a:r>
              <a:t>{خَـٰلِدِينَ فِيهَا... إِلَّا مَا شَآءَ رَبُّكَ}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C7A7B"/>
                </a:solidFill>
              </a:defRPr>
            </a:pPr>
            <a:r>
              <a:t>سورة هود: ١٠٧ - أهل النار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11277295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643055" y="4389120"/>
            <a:ext cx="91440" cy="128016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1A202C"/>
                </a:solidFill>
              </a:defRPr>
            </a:pPr>
            <a:r>
              <a:t>{خَـٰلِدِينَ فِيهَا... عَطَآءً غَيْرَ مَجْذُوذٍ}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C7A7B"/>
                </a:solidFill>
              </a:defRPr>
            </a:pPr>
            <a:r>
              <a:t>سورة هود: ١٠٨ - أهل الجنة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الاكتشاف الأول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C53030"/>
                </a:solidFill>
              </a:defRPr>
            </a:pPr>
            <a:r>
              <a:t>التمايز بين "جهنم" و"النار"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600"/>
              </a:spcAft>
              <a:defRPr sz="2200">
                <a:solidFill>
                  <a:srgbClr val="1A202C"/>
                </a:solidFill>
              </a:defRPr>
            </a:pPr>
            <a:r>
              <a:t>▸  جهنم تظهر مع أقوى عبارات الخلود: "خالدين فيها أبداً"</a:t>
            </a:r>
          </a:p>
          <a:p>
            <a:pPr algn="r">
              <a:spcAft>
                <a:spcPts val="1600"/>
              </a:spcAft>
              <a:defRPr sz="2200">
                <a:solidFill>
                  <a:srgbClr val="1A202C"/>
                </a:solidFill>
              </a:defRPr>
            </a:pPr>
            <a:r>
              <a:t>▸  النار تظهر مع عبارات الاستثناء: "إلا ما شاء الله/ربك"</a:t>
            </a:r>
          </a:p>
          <a:p>
            <a:pPr algn="r">
              <a:spcAft>
                <a:spcPts val="1600"/>
              </a:spcAft>
              <a:defRPr sz="2200">
                <a:solidFill>
                  <a:srgbClr val="1A202C"/>
                </a:solidFill>
              </a:defRPr>
            </a:pPr>
            <a:r>
              <a:t>▸  قد يكون هناك تفريق قرآني في مفهوم الخلود بين المصطلحين</a:t>
            </a:r>
          </a:p>
          <a:p>
            <a:pPr algn="r">
              <a:spcAft>
                <a:spcPts val="1600"/>
              </a:spcAft>
              <a:defRPr sz="2200">
                <a:solidFill>
                  <a:srgbClr val="1A202C"/>
                </a:solidFill>
              </a:defRPr>
            </a:pPr>
            <a:r>
              <a:t>▸  جهنم = المصير النهائي القطعي</a:t>
            </a:r>
          </a:p>
          <a:p>
            <a:pPr algn="r">
              <a:spcAft>
                <a:spcPts val="1600"/>
              </a:spcAft>
              <a:defRPr sz="2200">
                <a:solidFill>
                  <a:srgbClr val="1A202C"/>
                </a:solidFill>
              </a:defRPr>
            </a:pPr>
            <a:r>
              <a:t>▸  النار = مصطلح أعم يشمل من قد تشملهم المشيئة الإلهية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الاكتشاف الثاني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C53030"/>
                </a:solidFill>
              </a:defRPr>
            </a:pPr>
            <a:r>
              <a:t>"عطاء غير مجذوذ" - الفرق الجوهري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600"/>
              </a:spcAft>
              <a:defRPr sz="2200">
                <a:solidFill>
                  <a:srgbClr val="1A202C"/>
                </a:solidFill>
              </a:defRPr>
            </a:pPr>
            <a:r>
              <a:t>▸  آيتا النار والجنة (هود ١٠٧-١٠٨) متوازيتان تماماً</a:t>
            </a:r>
          </a:p>
          <a:p>
            <a:pPr algn="r">
              <a:spcAft>
                <a:spcPts val="1600"/>
              </a:spcAft>
              <a:defRPr sz="2200">
                <a:solidFill>
                  <a:srgbClr val="1A202C"/>
                </a:solidFill>
              </a:defRPr>
            </a:pPr>
            <a:r>
              <a:t>▸  كلتاهما تحتويان على "إلا ما شاء ربك"</a:t>
            </a:r>
          </a:p>
          <a:p>
            <a:pPr algn="r">
              <a:spcAft>
                <a:spcPts val="1600"/>
              </a:spcAft>
              <a:defRPr sz="2200">
                <a:solidFill>
                  <a:srgbClr val="1A202C"/>
                </a:solidFill>
              </a:defRPr>
            </a:pPr>
            <a:r>
              <a:t>▸  آية الجنة تضيف: "عطاء غير مجذوذ" (غير منقطع)</a:t>
            </a:r>
          </a:p>
          <a:p>
            <a:pPr algn="r">
              <a:spcAft>
                <a:spcPts val="1600"/>
              </a:spcAft>
              <a:defRPr sz="2200">
                <a:solidFill>
                  <a:srgbClr val="1A202C"/>
                </a:solidFill>
              </a:defRPr>
            </a:pPr>
            <a:r>
              <a:t>▸  آية النار لا تحتوي على هذا التأكيد</a:t>
            </a:r>
          </a:p>
          <a:p>
            <a:pPr algn="r">
              <a:spcAft>
                <a:spcPts val="1600"/>
              </a:spcAft>
              <a:defRPr sz="2200">
                <a:solidFill>
                  <a:srgbClr val="1A202C"/>
                </a:solidFill>
              </a:defRPr>
            </a:pPr>
            <a:r>
              <a:t>▸  غياب التأكيد للنار قد يشير لإمكانية الانقطاع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الاكتشاف الثالث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C53030"/>
                </a:solidFill>
              </a:defRPr>
            </a:pPr>
            <a:r>
              <a:t>"أحقاباً" - المؤشر الزمني الوحيد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600"/>
              </a:spcAft>
              <a:defRPr sz="2200">
                <a:solidFill>
                  <a:srgbClr val="1A202C"/>
                </a:solidFill>
              </a:defRPr>
            </a:pPr>
            <a:r>
              <a:t>▸  آية النبأ ٢٣: {لَّـٰبِثِينَ فِيهَآ أَحْقَابًا}</a:t>
            </a:r>
          </a:p>
          <a:p>
            <a:pPr algn="r">
              <a:spcAft>
                <a:spcPts val="1600"/>
              </a:spcAft>
              <a:defRPr sz="2200">
                <a:solidFill>
                  <a:srgbClr val="1A202C"/>
                </a:solidFill>
              </a:defRPr>
            </a:pPr>
            <a:r>
              <a:t>▸  الآية الوحيدة بمصطلح زمني بدلاً من الخلود المطلق</a:t>
            </a:r>
          </a:p>
          <a:p>
            <a:pPr algn="r">
              <a:spcAft>
                <a:spcPts val="1600"/>
              </a:spcAft>
              <a:defRPr sz="2200">
                <a:solidFill>
                  <a:srgbClr val="1A202C"/>
                </a:solidFill>
              </a:defRPr>
            </a:pPr>
            <a:r>
              <a:t>▸  استخدام "لابثين" بدلاً من "خالدين"</a:t>
            </a:r>
          </a:p>
          <a:p>
            <a:pPr algn="r">
              <a:spcAft>
                <a:spcPts val="1600"/>
              </a:spcAft>
              <a:defRPr sz="2200">
                <a:solidFill>
                  <a:srgbClr val="1A202C"/>
                </a:solidFill>
              </a:defRPr>
            </a:pPr>
            <a:r>
              <a:t>▸  "أحقاب" = فترات زمنية / حِقَب</a:t>
            </a:r>
          </a:p>
          <a:p>
            <a:pPr algn="r">
              <a:spcAft>
                <a:spcPts val="1600"/>
              </a:spcAft>
              <a:defRPr sz="2200">
                <a:solidFill>
                  <a:srgbClr val="1A202C"/>
                </a:solidFill>
              </a:defRPr>
            </a:pPr>
            <a:r>
              <a:t>▸  السياق: للطاغين (المتجاوزين للحدود)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الاكتشاف الرابع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C53030"/>
                </a:solidFill>
              </a:defRPr>
            </a:pPr>
            <a:r>
              <a:t>المصطلحات الستة "الصامتة"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600"/>
              </a:spcAft>
              <a:defRPr sz="2200">
                <a:solidFill>
                  <a:srgbClr val="1A202C"/>
                </a:solidFill>
              </a:defRPr>
            </a:pPr>
            <a:r>
              <a:t>▸  السعير، الجحيم، سقر، لظى، الحطمة، هاوية</a:t>
            </a:r>
          </a:p>
          <a:p>
            <a:pPr algn="r">
              <a:spcAft>
                <a:spcPts val="1600"/>
              </a:spcAft>
              <a:defRPr sz="2200">
                <a:solidFill>
                  <a:srgbClr val="1A202C"/>
                </a:solidFill>
              </a:defRPr>
            </a:pPr>
            <a:r>
              <a:t>▸  لا يقترن أي منها بـ"خالدين" في نفس الآية</a:t>
            </a:r>
          </a:p>
          <a:p>
            <a:pPr algn="r">
              <a:spcAft>
                <a:spcPts val="1600"/>
              </a:spcAft>
              <a:defRPr sz="2200">
                <a:solidFill>
                  <a:srgbClr val="1A202C"/>
                </a:solidFill>
              </a:defRPr>
            </a:pPr>
            <a:r>
              <a:t>▸  هذه المصطلحات تصف طبيعة العذاب لا مدته</a:t>
            </a:r>
          </a:p>
          <a:p>
            <a:pPr algn="r">
              <a:spcAft>
                <a:spcPts val="1600"/>
              </a:spcAft>
              <a:defRPr sz="2200">
                <a:solidFill>
                  <a:srgbClr val="1A202C"/>
                </a:solidFill>
              </a:defRPr>
            </a:pPr>
            <a:r>
              <a:t>▸  تظهر غالباً في السور المكية القصيرة</a:t>
            </a:r>
          </a:p>
          <a:p>
            <a:pPr algn="r">
              <a:spcAft>
                <a:spcPts val="1600"/>
              </a:spcAft>
              <a:defRPr sz="2200">
                <a:solidFill>
                  <a:srgbClr val="1A202C"/>
                </a:solidFill>
              </a:defRPr>
            </a:pPr>
            <a:r>
              <a:t>▸  قد تشير إلى جوانب أو مراحل مختلفة من العقاب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D69E2E"/>
                </a:solidFill>
              </a:defRPr>
            </a:pPr>
            <a:r>
              <a:t>الخلاصة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◆  جهنم الأكثر ارتباطاً بالخلود المؤبد (خالدين فيها أبداً)</a:t>
            </a:r>
          </a:p>
          <a:p>
            <a:pPr algn="r"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◆  النار تظهر مع الاستثناء الإلهي (إلا ما شاء الله/ربك)</a:t>
            </a:r>
          </a:p>
          <a:p>
            <a:pPr algn="r"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◆  غياب "غير مجذوذ" للنار مقابل الجنة قد يحمل دلالة</a:t>
            </a:r>
          </a:p>
          <a:p>
            <a:pPr algn="r"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◆  "أحقاباً" المؤشر الزمني الوحيد في القرآن لعذاب النار</a:t>
            </a:r>
          </a:p>
          <a:p>
            <a:pPr algn="r"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◆  ٦ مصطلحات لا تقترن بلغة الخلود في نفس الآية</a:t>
            </a:r>
          </a:p>
          <a:p>
            <a:pPr algn="r"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◆  التنوع في المصطلحات قد يحمل دلالات عقدية مهمة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شكراً لاهتمامكم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D69E2E"/>
                </a:solidFill>
              </a:defRPr>
            </a:pPr>
            <a:r>
              <a:t>دراسة قرآنية بحتة وفق منهج "القرآن يفسر نفسه"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5029200"/>
            <a:ext cx="3962095" cy="5486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5074920"/>
            <a:ext cx="3962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منهج: القرآن يفسر نفسه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