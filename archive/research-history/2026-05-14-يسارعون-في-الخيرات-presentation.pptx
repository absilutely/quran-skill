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9144000" cy="18288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Arial"/>
              </a:defRPr>
            </a:pPr>
            <a:r>
              <a:t>يُسَارِعُونَ فِي الْخَيْرَاتِ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1">
                <a:solidFill>
                  <a:srgbClr val="C9A227"/>
                </a:solidFill>
                <a:latin typeface="Georgia"/>
              </a:defRPr>
            </a:pPr>
            <a:r>
              <a:t>Those Who Hasten in Good Deeds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718096"/>
                </a:solidFill>
                <a:latin typeface="Arial"/>
              </a:defRPr>
            </a:pPr>
            <a:r>
              <a:t>Quranic Meaning vs Traditional Interpretation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D5C63"/>
                </a:solidFill>
                <a:latin typeface="Georgia"/>
              </a:defRPr>
            </a:pPr>
            <a:r>
              <a:t>The Central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2D3748"/>
                </a:solidFill>
                <a:latin typeface="Georgia"/>
              </a:defRPr>
            </a:pPr>
            <a:r>
              <a:t>Who are the people described in the Quran as يُسَارِعُونَ فِي الْخَيْرَاتِ?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20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718096"/>
                </a:solidFill>
                <a:latin typeface="Arial"/>
              </a:defRPr>
            </a:pPr>
            <a:r>
              <a:t>And what qualities define them?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718096"/>
                </a:solidFill>
                <a:latin typeface="Arial"/>
              </a:defRPr>
            </a:pPr>
            <a:r>
              <a:t>Two Approaches: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383280"/>
            <a:ext cx="3840480" cy="137160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DC2626"/>
                </a:solidFill>
                <a:latin typeface="Arial"/>
              </a:defRPr>
            </a:pPr>
            <a:r>
              <a:t>Traditional Interpretation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2D3748"/>
                </a:solidFill>
                <a:latin typeface="Arial"/>
              </a:defRPr>
            </a:pPr>
            <a:r>
              <a:t>"Just do good deeds quickly"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3383280"/>
            <a:ext cx="3840480" cy="137160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0" y="3520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59669"/>
                </a:solidFill>
                <a:latin typeface="Arial"/>
              </a:defRPr>
            </a:pPr>
            <a:r>
              <a:t>Quranic Evidence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9319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2D3748"/>
                </a:solidFill>
                <a:latin typeface="Arial"/>
              </a:defRPr>
            </a:pPr>
            <a:r>
              <a:t>Specific qualities &amp; character traits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87552"/>
            <a:ext cx="9144000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DC2626"/>
                </a:solidFill>
                <a:latin typeface="Georgia"/>
              </a:defRPr>
            </a:pPr>
            <a:r>
              <a:t>❌  Traditional Interpretation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2D3748"/>
                </a:solidFill>
                <a:latin typeface="Arial"/>
              </a:defRPr>
            </a:pPr>
            <a:r>
              <a:t>Common Understanding: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2D3748"/>
                </a:solidFill>
                <a:latin typeface="Arial"/>
              </a:defRPr>
            </a:pPr>
            <a:r>
              <a:t>• "Hastening in good deeds" simply means doing good actions quickly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2D3748"/>
                </a:solidFill>
                <a:latin typeface="Arial"/>
              </a:defRPr>
            </a:pPr>
            <a:r>
              <a:t>• Focus on the speed/quantity of actions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2D3748"/>
                </a:solidFill>
                <a:latin typeface="Arial"/>
              </a:defRPr>
            </a:pPr>
            <a:r>
              <a:t>• Anyone who does good deeds frequently qualifies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71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2D3748"/>
                </a:solidFill>
                <a:latin typeface="Arial"/>
              </a:defRPr>
            </a:pPr>
            <a:r>
              <a:t>• Emphasis on external actions over internal state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566160"/>
            <a:ext cx="8229600" cy="1280160"/>
          </a:xfrm>
          <a:prstGeom prst="rect">
            <a:avLst/>
          </a:prstGeom>
          <a:solidFill>
            <a:srgbClr val="FECA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DC2626"/>
                </a:solidFill>
                <a:latin typeface="Arial"/>
              </a:defRPr>
            </a:pPr>
            <a:r>
              <a:t>What This Misses: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233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2D3748"/>
                </a:solidFill>
                <a:latin typeface="Arial"/>
              </a:defRPr>
            </a:pPr>
            <a:r>
              <a:t>The Quran explicitly lists specific characteristics of these people — it's not just about speed, but about WHO they are and their spiritual state.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Georgia"/>
              </a:defRPr>
            </a:pPr>
            <a:r>
              <a:t>✓  Quranic Evidence #1: Al-Anbiya 21:90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7863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 i="0">
                <a:solidFill>
                  <a:srgbClr val="0D5C63"/>
                </a:solidFill>
                <a:latin typeface="Arial"/>
              </a:defRPr>
            </a:pPr>
            <a:r>
              <a:t>إِنَّهُمْ كَانُوا۟ يُسَـٰرِعُونَ فِى ٱلْخَيْرَٰتِ وَيَدْعُونَنَا رَغَبًا وَرَهَبًا ۖ وَكَانُوا۟ لَنَا خَـٰشِعِينَ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C9A227"/>
                </a:solidFill>
                <a:latin typeface="Arial"/>
              </a:defRPr>
            </a:pPr>
            <a:r>
              <a:t>Who Are They?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2D3748"/>
                </a:solidFill>
                <a:latin typeface="Arial"/>
              </a:defRPr>
            </a:pPr>
            <a:r>
              <a:t>The Prophets Zakariyya, Yahya,</a:t>
            </a:r>
            <a:br/>
            <a:r>
              <a:t>and their family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37744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C9A227"/>
                </a:solidFill>
                <a:latin typeface="Arial"/>
              </a:defRPr>
            </a:pPr>
            <a:r>
              <a:t>Their Characteristics: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2743200"/>
            <a:ext cx="4114800" cy="50292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2743200"/>
            <a:ext cx="54864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85292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D3748"/>
                </a:solidFill>
                <a:latin typeface="Arial"/>
              </a:defRPr>
            </a:pPr>
            <a:r>
              <a:t>Hasten in good deeds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3337560"/>
            <a:ext cx="4114800" cy="50292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3337560"/>
            <a:ext cx="54864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344728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D3748"/>
                </a:solidFill>
                <a:latin typeface="Arial"/>
              </a:defRPr>
            </a:pPr>
            <a:r>
              <a:t>Call upon Allah with hope &amp; fear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3931920"/>
            <a:ext cx="4114800" cy="50292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0" y="3931920"/>
            <a:ext cx="54864" cy="50292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0" y="404164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D3748"/>
                </a:solidFill>
                <a:latin typeface="Arial"/>
              </a:defRPr>
            </a:pPr>
            <a:r>
              <a:t>Humbly submissive to Allah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Georgia"/>
              </a:defRPr>
            </a:pPr>
            <a:r>
              <a:t>✓  Quranic Evidence #2: Al-Mu'minun 23:57-61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8229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 i="0">
                <a:solidFill>
                  <a:srgbClr val="0D5C63"/>
                </a:solidFill>
                <a:latin typeface="Arial"/>
              </a:defRPr>
            </a:pPr>
            <a:r>
              <a:t>أُو۟لَـٰٓئِكَ يُسَـٰرِعُونَ فِى ٱلْخَيْرَٰتِ وَهُمْ لَهَا سَـٰبِقُونَ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718096"/>
                </a:solidFill>
                <a:latin typeface="Arial"/>
              </a:defRPr>
            </a:pPr>
            <a:r>
              <a:t>The Quran lists 5 characteristics before this phrase: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86000"/>
            <a:ext cx="320040" cy="320040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23317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042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D3748"/>
                </a:solidFill>
                <a:latin typeface="Arial"/>
              </a:defRPr>
            </a:pPr>
            <a:r>
              <a:t>Apprehensive from fear of their Lord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063240"/>
            <a:ext cx="320040" cy="320040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32" y="3108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815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D3748"/>
                </a:solidFill>
                <a:latin typeface="Arial"/>
              </a:defRPr>
            </a:pPr>
            <a:r>
              <a:t>Believe in the signs of their Lord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3840479"/>
            <a:ext cx="320040" cy="320040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" y="388620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5876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D3748"/>
                </a:solidFill>
                <a:latin typeface="Arial"/>
              </a:defRPr>
            </a:pPr>
            <a:r>
              <a:t>Do not associate partners with Allah</a:t>
            </a:r>
          </a:p>
        </p:txBody>
      </p:sp>
      <p:sp>
        <p:nvSpPr>
          <p:cNvPr id="17" name="Oval 16"/>
          <p:cNvSpPr/>
          <p:nvPr/>
        </p:nvSpPr>
        <p:spPr>
          <a:xfrm>
            <a:off x="4754880" y="2286000"/>
            <a:ext cx="320040" cy="320040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82312" y="233172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30428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D3748"/>
                </a:solidFill>
                <a:latin typeface="Arial"/>
              </a:defRPr>
            </a:pPr>
            <a:r>
              <a:t>Give what they give...</a:t>
            </a:r>
          </a:p>
        </p:txBody>
      </p:sp>
      <p:sp>
        <p:nvSpPr>
          <p:cNvPr id="20" name="Oval 19"/>
          <p:cNvSpPr/>
          <p:nvPr/>
        </p:nvSpPr>
        <p:spPr>
          <a:xfrm>
            <a:off x="4754880" y="3063240"/>
            <a:ext cx="320040" cy="320040"/>
          </a:xfrm>
          <a:prstGeom prst="ellipse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82312" y="3108960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3081528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D3748"/>
                </a:solidFill>
                <a:latin typeface="Arial"/>
              </a:defRPr>
            </a:pPr>
            <a:r>
              <a:t>...while their hearts are fearful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526280"/>
            <a:ext cx="8229600" cy="4572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61772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2D3748"/>
                </a:solidFill>
                <a:latin typeface="Arial"/>
              </a:defRPr>
            </a:pPr>
            <a:r>
              <a:t>Key Insight: وَهُمْ لَهَا سَابِقُونَ — They are "forerunners" to good, not just fast doers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  <a:latin typeface="Georgia"/>
              </a:defRPr>
            </a:pPr>
            <a:r>
              <a:t>✓  Quranic Evidence #3: Aal-Imran 3:113-114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822960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 i="0">
                <a:solidFill>
                  <a:srgbClr val="0D5C63"/>
                </a:solidFill>
                <a:latin typeface="Arial"/>
              </a:defRPr>
            </a:pPr>
            <a:r>
              <a:t>وَيُسَـٰرِعُونَ فِى ٱلْخَيْرَٰتِ وَأُو۟لَـٰٓئِكَ مِنَ ٱلصَّـٰلِحِينَ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718096"/>
                </a:solidFill>
                <a:latin typeface="Arial"/>
              </a:defRPr>
            </a:pPr>
            <a:r>
              <a:t>"...and those are among the righteous"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C9A227"/>
                </a:solidFill>
                <a:latin typeface="Arial"/>
              </a:defRPr>
            </a:pPr>
            <a:r>
              <a:t>Who: Righteous People of the Book (أُمَّةٌ قَائِمَةٌ)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06040"/>
            <a:ext cx="2651760" cy="68580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788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Recite Allah's verses at night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2606040"/>
            <a:ext cx="2651760" cy="68580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9000" y="2788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Prostrate in prayer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2606040"/>
            <a:ext cx="2651760" cy="68580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278892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Believe in Allah &amp; Last Day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429000"/>
            <a:ext cx="2651760" cy="68580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611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Enjoin good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91840" y="3429000"/>
            <a:ext cx="2651760" cy="685800"/>
          </a:xfrm>
          <a:prstGeom prst="rect">
            <a:avLst/>
          </a:prstGeom>
          <a:solidFill>
            <a:srgbClr val="E6FF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29000" y="36118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Forbid evil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5262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59669"/>
                </a:solidFill>
                <a:latin typeface="Arial"/>
              </a:defRPr>
            </a:pPr>
            <a:r>
              <a:t>Result: وَأُولَٰئِكَ مِنَ الصَّالِحِينَ — "Those are among the righteous"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FFFFFF"/>
                </a:solidFill>
                <a:latin typeface="Georgia"/>
              </a:defRPr>
            </a:pPr>
            <a:r>
              <a:t>⚖  The Quranic Contrast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718096"/>
                </a:solidFill>
                <a:latin typeface="Arial"/>
              </a:defRPr>
            </a:pPr>
            <a:r>
              <a:t>The same verb يُسَارِعُونَ is used with opposite objects: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931920" cy="3474720"/>
          </a:xfrm>
          <a:prstGeom prst="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393192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4475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يُسَارِعُونَ فِي الْخَيْرَاتِ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59669"/>
                </a:solidFill>
                <a:latin typeface="Arial"/>
              </a:defRPr>
            </a:pPr>
            <a:r>
              <a:t>Hastening in Good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D3748"/>
                </a:solidFill>
                <a:latin typeface="Arial"/>
              </a:defRPr>
            </a:pPr>
            <a:r>
              <a:t>• Prophets &amp; their families</a:t>
            </a:r>
            <a:br/>
            <a:r>
              <a:t>• True believers</a:t>
            </a:r>
            <a:br/>
            <a:r>
              <a:t>• Righteous People of the Book</a:t>
            </a:r>
            <a:br/>
            <a:br/>
            <a:r>
              <a:t>Combined with:</a:t>
            </a:r>
            <a:br/>
            <a:r>
              <a:t>خشية، خشوع، إيمان، دعاء، توحيد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371600"/>
            <a:ext cx="3931920" cy="3474720"/>
          </a:xfrm>
          <a:prstGeom prst="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54880" y="1371600"/>
            <a:ext cx="393192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46320" y="144475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يُسَارِعُونَ فِي الْكُفْرِ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920240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DC2626"/>
                </a:solidFill>
                <a:latin typeface="Arial"/>
              </a:defRPr>
            </a:pPr>
            <a:r>
              <a:t>Hastening in Disbelief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2286000"/>
            <a:ext cx="3566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2D3748"/>
                </a:solidFill>
                <a:latin typeface="Arial"/>
              </a:defRPr>
            </a:pPr>
            <a:r>
              <a:t>• Hypocrites (5:41)</a:t>
            </a:r>
            <a:br/>
            <a:r>
              <a:t>• Those who disbelieve (3:176)</a:t>
            </a:r>
            <a:br/>
            <a:br/>
            <a:r>
              <a:t>Also:</a:t>
            </a:r>
            <a:br/>
            <a:r>
              <a:t>يُسَارِعُونَ فِي الْإِثْمِ وَالْعُدْوَانِ</a:t>
            </a:r>
            <a:br/>
            <a:r>
              <a:t>"Hastening in sin &amp; aggression" (5:62)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0" i="0">
                <a:latin typeface="Arial"/>
              </a:defRPr>
            </a:pPr>
            <a:r>
              <a:t>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FFFF"/>
                </a:solidFill>
                <a:latin typeface="Georgia"/>
              </a:defRPr>
            </a:pPr>
            <a:r>
              <a:t>The Balance of Hope &amp; Fear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C9A227"/>
                </a:solidFill>
                <a:latin typeface="Arial"/>
              </a:defRPr>
            </a:pPr>
            <a:r>
              <a:t>وَيَدْعُونَنَا رَغَبًا وَرَهَبًا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718096"/>
                </a:solidFill>
                <a:latin typeface="Georgia"/>
              </a:defRPr>
            </a:pPr>
            <a:r>
              <a:t>"They call upon Us with hope and fear"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108960"/>
            <a:ext cx="3200400" cy="1371600"/>
          </a:xfrm>
          <a:prstGeom prst="rect">
            <a:avLst/>
          </a:prstGeom>
          <a:solidFill>
            <a:srgbClr val="1491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3246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رَغَبًا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t>Hope (رجاء)</a:t>
            </a:r>
            <a:br/>
            <a:r>
              <a:t>Longing for Allah's reward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108960"/>
            <a:ext cx="3200400" cy="13716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32461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FFFFF"/>
                </a:solidFill>
                <a:latin typeface="Arial"/>
              </a:defRPr>
            </a:pPr>
            <a:r>
              <a:t>رَهَبًا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749039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FFFFFF"/>
                </a:solidFill>
                <a:latin typeface="Arial"/>
              </a:defRPr>
            </a:pPr>
            <a:r>
              <a:t>Fear (خوف)</a:t>
            </a:r>
            <a:br/>
            <a:r>
              <a:t>Fear of Allah's displeasure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0D5C63"/>
                </a:solidFill>
                <a:latin typeface="Georgia"/>
              </a:defRPr>
            </a:pPr>
            <a:r>
              <a:t>Traditional vs Quranic Understanding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8755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Traditional 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98755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 i="0">
                <a:solidFill>
                  <a:srgbClr val="FFFFFF"/>
                </a:solidFill>
                <a:latin typeface="Arial"/>
              </a:defRPr>
            </a:pPr>
            <a:r>
              <a:t>Quranic Evidence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463040"/>
            <a:ext cx="3931920" cy="502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5727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Speed/quantity of actions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463040"/>
            <a:ext cx="3931920" cy="5029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92040" y="15727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Quality of heart &amp; character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5740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1671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Anyone who acts fast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54880" y="205740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92040" y="21671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Specific people with specific traits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651760"/>
            <a:ext cx="3931920" cy="502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27614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External behavior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2651760"/>
            <a:ext cx="3931920" cy="5029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276148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Internal state (خشية، خشوع، وجل)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24612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3558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Just "do good quickly"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3246120"/>
            <a:ext cx="393192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335584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Combined with دعاء رغبا ورهبا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40480"/>
            <a:ext cx="3931920" cy="50292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39502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Generic instruction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754880" y="3840480"/>
            <a:ext cx="3931920" cy="502920"/>
          </a:xfrm>
          <a:prstGeom prst="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395020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2D3748"/>
                </a:solidFill>
                <a:latin typeface="Arial"/>
              </a:defRPr>
            </a:pPr>
            <a:r>
              <a:t>Prophets as the prime example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57200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2D3748"/>
                </a:solidFill>
                <a:latin typeface="Arial"/>
              </a:defRPr>
            </a:pPr>
            <a:r>
              <a:t>The Quran defines WHO these people are — not just WHAT they 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365760"/>
            <a:ext cx="1828800" cy="2743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0">
                <a:solidFill>
                  <a:srgbClr val="FFFFFF"/>
                </a:solidFill>
                <a:latin typeface="Georgia"/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C9A227"/>
                </a:solidFill>
                <a:latin typeface="Georgia"/>
              </a:defRPr>
            </a:pPr>
            <a:r>
              <a:t>يُسَارِعُونَ فِي الْخَيْرَاتِ is not just about speed—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0">
                <a:solidFill>
                  <a:srgbClr val="FFFFFF"/>
                </a:solidFill>
                <a:latin typeface="Arial"/>
              </a:defRPr>
            </a:pPr>
            <a:r>
              <a:t>it's a quality of the heart that manifests in action.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377440"/>
            <a:ext cx="2560320" cy="13716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14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C9A227"/>
                </a:solidFill>
                <a:latin typeface="Arial"/>
              </a:defRPr>
            </a:pPr>
            <a:r>
              <a:t>إيمان و توحيد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Deep faith &amp;</a:t>
            </a:r>
            <a:br/>
            <a:r>
              <a:t>pure monotheism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66160" y="2377440"/>
            <a:ext cx="2560320" cy="13716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2514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C9A227"/>
                </a:solidFill>
                <a:latin typeface="Arial"/>
              </a:defRPr>
            </a:pPr>
            <a:r>
              <a:t>خشية و خشوع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063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Reverent fear</a:t>
            </a:r>
            <a:br/>
            <a:r>
              <a:t>&amp; humility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377440"/>
            <a:ext cx="2560320" cy="1371600"/>
          </a:xfrm>
          <a:prstGeom prst="rect">
            <a:avLst/>
          </a:prstGeom>
          <a:solidFill>
            <a:srgbClr val="0D5C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5146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C9A227"/>
                </a:solidFill>
                <a:latin typeface="Arial"/>
              </a:defRPr>
            </a:pPr>
            <a:r>
              <a:t>رغبا و رهبا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06324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FFFFFF"/>
                </a:solidFill>
                <a:latin typeface="Arial"/>
              </a:defRPr>
            </a:pPr>
            <a:r>
              <a:t>Hope combined</a:t>
            </a:r>
            <a:br/>
            <a:r>
              <a:t>with fear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718096"/>
                </a:solidFill>
                <a:latin typeface="Georgia"/>
              </a:defRPr>
            </a:pPr>
            <a:r>
              <a:t>The believer races toward good while remaining humble,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 i="0">
                <a:solidFill>
                  <a:srgbClr val="718096"/>
                </a:solidFill>
                <a:latin typeface="Georgia"/>
              </a:defRPr>
            </a:pPr>
            <a:r>
              <a:t>knowing their deeds depend entirely on Allah's acceptance.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4800600"/>
            <a:ext cx="1828800" cy="27432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